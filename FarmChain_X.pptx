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notesMasterIdLst>
    <p:notesMasterId r:id="rId14"/>
  </p:notesMasterIdLst>
  <p:sldIdLst>
    <p:sldId id="256" r:id="rId2"/>
    <p:sldId id="257" r:id="rId3"/>
    <p:sldId id="260" r:id="rId4"/>
    <p:sldId id="262" r:id="rId5"/>
    <p:sldId id="261" r:id="rId6"/>
    <p:sldId id="263" r:id="rId7"/>
    <p:sldId id="264" r:id="rId8"/>
    <p:sldId id="265" r:id="rId9"/>
    <p:sldId id="266" r:id="rId10"/>
    <p:sldId id="267" r:id="rId11"/>
    <p:sldId id="268" r:id="rId12"/>
    <p:sldId id="25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86714A-E892-482D-8B6E-0D08875DCDE2}" v="3" dt="2026-02-17T13:38:37.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5" d="100"/>
          <a:sy n="75" d="100"/>
        </p:scale>
        <p:origin x="974" y="5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F166FB-66E4-4AEF-A1AE-4114E38D35B7}"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23C33D-9838-4A0E-9ED3-413EB92F2E77}" type="slidenum">
              <a:rPr lang="en-IN" smtClean="0"/>
              <a:t>‹#›</a:t>
            </a:fld>
            <a:endParaRPr lang="en-IN"/>
          </a:p>
        </p:txBody>
      </p:sp>
    </p:spTree>
    <p:extLst>
      <p:ext uri="{BB962C8B-B14F-4D97-AF65-F5344CB8AC3E}">
        <p14:creationId xmlns:p14="http://schemas.microsoft.com/office/powerpoint/2010/main" val="177769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33224FE2-F166-424E-891C-655A6D0BEE38}" type="slidenum">
              <a:rPr lang="en-IN" smtClean="0"/>
              <a:t>‹#›</a:t>
            </a:fld>
            <a:endParaRPr lang="en-IN"/>
          </a:p>
        </p:txBody>
      </p:sp>
    </p:spTree>
    <p:extLst>
      <p:ext uri="{BB962C8B-B14F-4D97-AF65-F5344CB8AC3E}">
        <p14:creationId xmlns:p14="http://schemas.microsoft.com/office/powerpoint/2010/main" val="174034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2566497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2365617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311BFE-F8D0-4A35-8440-05C2C733560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4178170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311BFE-F8D0-4A35-8440-05C2C7335602}"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3033913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311BFE-F8D0-4A35-8440-05C2C7335602}"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3184462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11BFE-F8D0-4A35-8440-05C2C7335602}"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105142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11BFE-F8D0-4A35-8440-05C2C733560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401766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11BFE-F8D0-4A35-8440-05C2C733560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903175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11BFE-F8D0-4A35-8440-05C2C7335602}"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403141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966234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148892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688206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2311BFE-F8D0-4A35-8440-05C2C7335602}"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2923530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2311BFE-F8D0-4A35-8440-05C2C7335602}"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2643603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18450040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11BFE-F8D0-4A35-8440-05C2C7335602}"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3224FE2-F166-424E-891C-655A6D0BEE38}" type="slidenum">
              <a:rPr lang="en-IN" smtClean="0"/>
              <a:t>‹#›</a:t>
            </a:fld>
            <a:endParaRPr lang="en-IN"/>
          </a:p>
        </p:txBody>
      </p:sp>
    </p:spTree>
    <p:extLst>
      <p:ext uri="{BB962C8B-B14F-4D97-AF65-F5344CB8AC3E}">
        <p14:creationId xmlns:p14="http://schemas.microsoft.com/office/powerpoint/2010/main" val="61352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769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20">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C2311BFE-F8D0-4A35-8440-05C2C7335602}" type="datetimeFigureOut">
              <a:rPr lang="en-IN" smtClean="0"/>
              <a:t>24-04-2026</a:t>
            </a:fld>
            <a:endParaRPr lang="en-IN"/>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IN"/>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3224FE2-F166-424E-891C-655A6D0BEE38}" type="slidenum">
              <a:rPr lang="en-IN" smtClean="0"/>
              <a:t>‹#›</a:t>
            </a:fld>
            <a:endParaRPr lang="en-IN"/>
          </a:p>
        </p:txBody>
      </p:sp>
    </p:spTree>
    <p:extLst>
      <p:ext uri="{BB962C8B-B14F-4D97-AF65-F5344CB8AC3E}">
        <p14:creationId xmlns:p14="http://schemas.microsoft.com/office/powerpoint/2010/main" val="411221380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 id="2147483767" r:id="rId12"/>
    <p:sldLayoutId id="2147483768" r:id="rId13"/>
    <p:sldLayoutId id="2147483769" r:id="rId14"/>
    <p:sldLayoutId id="2147483770" r:id="rId15"/>
    <p:sldLayoutId id="2147483771" r:id="rId16"/>
    <p:sldLayoutId id="2147483772" r:id="rId17"/>
    <p:sldLayoutId id="2147483773" r:id="rId18"/>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accent1">
              <a:lumMod val="60000"/>
              <a:lumOff val="4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516F0-EEC9-4661-924E-AD1527774E72}"/>
              </a:ext>
            </a:extLst>
          </p:cNvPr>
          <p:cNvSpPr>
            <a:spLocks noGrp="1"/>
          </p:cNvSpPr>
          <p:nvPr>
            <p:ph type="ctrTitle"/>
          </p:nvPr>
        </p:nvSpPr>
        <p:spPr>
          <a:xfrm>
            <a:off x="1154954" y="2099733"/>
            <a:ext cx="9975161" cy="2677648"/>
          </a:xfrm>
        </p:spPr>
        <p:txBody>
          <a:bodyPr>
            <a:noAutofit/>
          </a:bodyPr>
          <a:lstStyle/>
          <a:p>
            <a:pPr algn="ctr"/>
            <a:r>
              <a:rPr lang="en-US" sz="7000" dirty="0" err="1">
                <a:latin typeface="Times New Roman" panose="02020603050405020304" pitchFamily="18" charset="0"/>
                <a:cs typeface="Times New Roman" panose="02020603050405020304" pitchFamily="18" charset="0"/>
              </a:rPr>
              <a:t>FarmChain</a:t>
            </a:r>
            <a:r>
              <a:rPr lang="en-US" sz="7000" dirty="0">
                <a:latin typeface="Times New Roman" panose="02020603050405020304" pitchFamily="18" charset="0"/>
                <a:cs typeface="Times New Roman" panose="02020603050405020304" pitchFamily="18" charset="0"/>
              </a:rPr>
              <a:t> X AI Driven Agricultural Traceability Network</a:t>
            </a:r>
            <a:endParaRPr lang="en-IN" sz="7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E7A140F-1DFC-16A4-6544-7D4027A957BD}"/>
              </a:ext>
            </a:extLst>
          </p:cNvPr>
          <p:cNvSpPr>
            <a:spLocks noGrp="1"/>
          </p:cNvSpPr>
          <p:nvPr>
            <p:ph type="subTitle" idx="1"/>
          </p:nvPr>
        </p:nvSpPr>
        <p:spPr/>
        <p:txBody>
          <a:bodyPr/>
          <a:lstStyle/>
          <a:p>
            <a:pPr algn="ctr"/>
            <a:r>
              <a:rPr lang="en-US">
                <a:latin typeface="Times New Roman" panose="02020603050405020304" pitchFamily="18" charset="0"/>
                <a:cs typeface="Times New Roman" panose="02020603050405020304" pitchFamily="18" charset="0"/>
              </a:rPr>
              <a:t>         Where </a:t>
            </a:r>
            <a:r>
              <a:rPr lang="en-US" dirty="0">
                <a:latin typeface="Times New Roman" panose="02020603050405020304" pitchFamily="18" charset="0"/>
                <a:cs typeface="Times New Roman" panose="02020603050405020304" pitchFamily="18" charset="0"/>
              </a:rPr>
              <a:t>Every Harvest Speaks Its Journey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137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DF23D-50A5-6B27-1987-A6775B8C22F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 :</a:t>
            </a:r>
          </a:p>
        </p:txBody>
      </p:sp>
      <p:sp>
        <p:nvSpPr>
          <p:cNvPr id="3" name="Content Placeholder 2">
            <a:extLst>
              <a:ext uri="{FF2B5EF4-FFF2-40B4-BE49-F238E27FC236}">
                <a16:creationId xmlns:a16="http://schemas.microsoft.com/office/drawing/2014/main" id="{8E1D9186-6119-E580-5D78-EFEBF220B0AA}"/>
              </a:ext>
            </a:extLst>
          </p:cNvPr>
          <p:cNvSpPr>
            <a:spLocks noGrp="1"/>
          </p:cNvSpPr>
          <p:nvPr>
            <p:ph idx="1"/>
          </p:nvPr>
        </p:nvSpPr>
        <p:spPr>
          <a:xfrm>
            <a:off x="599768" y="2603500"/>
            <a:ext cx="10992463" cy="3416300"/>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Farmers across the world work hard every single day but still earn very little money because middlemen stand between them and consumers, controlling all prices, market information and payments without ever sharing it fairly. Most farmers live in remote areas with no internet access, no smartphone knowledge and no platform in their own language, making it completely impossible for them to find and connect with consumers directly. Even if both the farmer and consumer are willing to do business directly, there is no affordable logistics system, no common platform and no trust mechanism to protect either party across long distances. This forces farmers to keep depending on middlemen who underpay them while consumers keep overpaying, creating a broken and unfair global food system that benefits nobody except the middlemen standing in between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125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ext 0"/>
          <p:cNvSpPr/>
          <p:nvPr/>
        </p:nvSpPr>
        <p:spPr>
          <a:xfrm>
            <a:off x="609600" y="365760"/>
            <a:ext cx="10972800" cy="609600"/>
          </a:xfrm>
          <a:prstGeom prst="rect">
            <a:avLst/>
          </a:prstGeom>
          <a:noFill/>
          <a:ln/>
        </p:spPr>
        <p:txBody>
          <a:bodyPr wrap="square" rtlCol="0" anchor="ctr"/>
          <a:lstStyle/>
          <a:p>
            <a:r>
              <a:rPr lang="en-US" sz="5600" dirty="0">
                <a:latin typeface="Times New Roman" panose="02020603050405020304" pitchFamily="18" charset="0"/>
                <a:cs typeface="Times New Roman" panose="02020603050405020304" pitchFamily="18" charset="0"/>
              </a:rPr>
              <a:t>System Architecture Overview</a:t>
            </a:r>
          </a:p>
        </p:txBody>
      </p:sp>
      <p:sp>
        <p:nvSpPr>
          <p:cNvPr id="3" name="Shape 1"/>
          <p:cNvSpPr/>
          <p:nvPr/>
        </p:nvSpPr>
        <p:spPr>
          <a:xfrm>
            <a:off x="609600" y="1463040"/>
            <a:ext cx="2682240" cy="4267200"/>
          </a:xfrm>
          <a:prstGeom prst="rect">
            <a:avLst/>
          </a:prstGeom>
          <a:solidFill>
            <a:srgbClr val="2C5F2D"/>
          </a:solidFill>
          <a:ln w="25400">
            <a:solidFill>
              <a:srgbClr val="1E2761"/>
            </a:solidFill>
            <a:prstDash val="solid"/>
          </a:ln>
        </p:spPr>
        <p:txBody>
          <a:bodyPr/>
          <a:lstStyle/>
          <a:p>
            <a:endParaRPr lang="en-IN"/>
          </a:p>
        </p:txBody>
      </p:sp>
      <p:sp>
        <p:nvSpPr>
          <p:cNvPr id="4" name="Text 2"/>
          <p:cNvSpPr/>
          <p:nvPr/>
        </p:nvSpPr>
        <p:spPr>
          <a:xfrm>
            <a:off x="609600" y="1584960"/>
            <a:ext cx="2682240" cy="487680"/>
          </a:xfrm>
          <a:prstGeom prst="rect">
            <a:avLst/>
          </a:prstGeom>
          <a:noFill/>
          <a:ln/>
        </p:spPr>
        <p:txBody>
          <a:bodyPr wrap="square" rtlCol="0" anchor="ctr"/>
          <a:lstStyle/>
          <a:p>
            <a:pPr algn="ctr"/>
            <a:r>
              <a:rPr lang="en-US" sz="1867" b="1" dirty="0">
                <a:solidFill>
                  <a:srgbClr val="FFFFFF"/>
                </a:solidFill>
              </a:rPr>
              <a:t>FARMER SIDE</a:t>
            </a:r>
            <a:endParaRPr lang="en-US" sz="1867" dirty="0"/>
          </a:p>
        </p:txBody>
      </p:sp>
      <p:sp>
        <p:nvSpPr>
          <p:cNvPr id="5" name="Text 3"/>
          <p:cNvSpPr/>
          <p:nvPr/>
        </p:nvSpPr>
        <p:spPr>
          <a:xfrm>
            <a:off x="731520" y="2316480"/>
            <a:ext cx="2438400" cy="1828800"/>
          </a:xfrm>
          <a:prstGeom prst="rect">
            <a:avLst/>
          </a:prstGeom>
          <a:noFill/>
          <a:ln/>
        </p:spPr>
        <p:txBody>
          <a:bodyPr wrap="square" rtlCol="0" anchor="ctr"/>
          <a:lstStyle/>
          <a:p>
            <a:r>
              <a:rPr lang="en-US" sz="1600" dirty="0">
                <a:solidFill>
                  <a:srgbClr val="F5F5F5"/>
                </a:solidFill>
              </a:rPr>
              <a:t>📱 Mobile App</a:t>
            </a:r>
            <a:endParaRPr lang="en-US" sz="1600" dirty="0"/>
          </a:p>
          <a:p>
            <a:r>
              <a:rPr lang="en-US" sz="1600" dirty="0">
                <a:solidFill>
                  <a:srgbClr val="F5F5F5"/>
                </a:solidFill>
              </a:rPr>
              <a:t>🗣️ Voice Input</a:t>
            </a:r>
            <a:endParaRPr lang="en-US" sz="1600" dirty="0"/>
          </a:p>
          <a:p>
            <a:r>
              <a:rPr lang="en-US" sz="1600" dirty="0">
                <a:solidFill>
                  <a:srgbClr val="F5F5F5"/>
                </a:solidFill>
              </a:rPr>
              <a:t>📸 Camera</a:t>
            </a:r>
            <a:endParaRPr lang="en-US" sz="1600" dirty="0"/>
          </a:p>
          <a:p>
            <a:r>
              <a:rPr lang="en-US" sz="1600" dirty="0">
                <a:solidFill>
                  <a:srgbClr val="F5F5F5"/>
                </a:solidFill>
              </a:rPr>
              <a:t>📍 GPS Tagging</a:t>
            </a:r>
            <a:endParaRPr lang="en-US" sz="1600" dirty="0"/>
          </a:p>
        </p:txBody>
      </p:sp>
      <p:sp>
        <p:nvSpPr>
          <p:cNvPr id="6" name="Shape 4"/>
          <p:cNvSpPr/>
          <p:nvPr/>
        </p:nvSpPr>
        <p:spPr>
          <a:xfrm>
            <a:off x="8900160" y="1463040"/>
            <a:ext cx="2682240" cy="4267200"/>
          </a:xfrm>
          <a:prstGeom prst="rect">
            <a:avLst/>
          </a:prstGeom>
          <a:solidFill>
            <a:srgbClr val="2C5F2D"/>
          </a:solidFill>
          <a:ln w="25400">
            <a:solidFill>
              <a:srgbClr val="1E2761"/>
            </a:solidFill>
            <a:prstDash val="solid"/>
          </a:ln>
        </p:spPr>
      </p:sp>
      <p:sp>
        <p:nvSpPr>
          <p:cNvPr id="7" name="Text 5"/>
          <p:cNvSpPr/>
          <p:nvPr/>
        </p:nvSpPr>
        <p:spPr>
          <a:xfrm>
            <a:off x="8900160" y="1584960"/>
            <a:ext cx="2682240" cy="487680"/>
          </a:xfrm>
          <a:prstGeom prst="rect">
            <a:avLst/>
          </a:prstGeom>
          <a:noFill/>
          <a:ln/>
        </p:spPr>
        <p:txBody>
          <a:bodyPr wrap="square" rtlCol="0" anchor="ctr"/>
          <a:lstStyle/>
          <a:p>
            <a:pPr algn="ctr"/>
            <a:r>
              <a:rPr lang="en-US" sz="1867" b="1" dirty="0">
                <a:solidFill>
                  <a:srgbClr val="FFFFFF"/>
                </a:solidFill>
              </a:rPr>
              <a:t>CONSUMER SIDE</a:t>
            </a:r>
            <a:endParaRPr lang="en-US" sz="1867" dirty="0"/>
          </a:p>
        </p:txBody>
      </p:sp>
      <p:sp>
        <p:nvSpPr>
          <p:cNvPr id="8" name="Text 6"/>
          <p:cNvSpPr/>
          <p:nvPr/>
        </p:nvSpPr>
        <p:spPr>
          <a:xfrm>
            <a:off x="9022080" y="2316480"/>
            <a:ext cx="2438400" cy="1828800"/>
          </a:xfrm>
          <a:prstGeom prst="rect">
            <a:avLst/>
          </a:prstGeom>
          <a:noFill/>
          <a:ln/>
        </p:spPr>
        <p:txBody>
          <a:bodyPr wrap="square" rtlCol="0" anchor="ctr"/>
          <a:lstStyle/>
          <a:p>
            <a:r>
              <a:rPr lang="en-US" sz="1600" dirty="0">
                <a:solidFill>
                  <a:srgbClr val="F5F5F5"/>
                </a:solidFill>
              </a:rPr>
              <a:t>📱 Mobile/Web</a:t>
            </a:r>
            <a:endParaRPr lang="en-US" sz="1600" dirty="0"/>
          </a:p>
          <a:p>
            <a:r>
              <a:rPr lang="en-US" sz="1600" dirty="0">
                <a:solidFill>
                  <a:srgbClr val="F5F5F5"/>
                </a:solidFill>
              </a:rPr>
              <a:t>🔍 Search</a:t>
            </a:r>
            <a:endParaRPr lang="en-US" sz="1600" dirty="0"/>
          </a:p>
          <a:p>
            <a:r>
              <a:rPr lang="en-US" sz="1600" dirty="0">
                <a:solidFill>
                  <a:srgbClr val="F5F5F5"/>
                </a:solidFill>
              </a:rPr>
              <a:t>🛒 Order</a:t>
            </a:r>
            <a:endParaRPr lang="en-US" sz="1600" dirty="0"/>
          </a:p>
          <a:p>
            <a:r>
              <a:rPr lang="en-US" sz="1600" dirty="0">
                <a:solidFill>
                  <a:srgbClr val="F5F5F5"/>
                </a:solidFill>
              </a:rPr>
              <a:t>📦 Track</a:t>
            </a:r>
            <a:endParaRPr lang="en-US" sz="1600" dirty="0"/>
          </a:p>
        </p:txBody>
      </p:sp>
      <p:sp>
        <p:nvSpPr>
          <p:cNvPr id="9" name="Shape 7"/>
          <p:cNvSpPr/>
          <p:nvPr/>
        </p:nvSpPr>
        <p:spPr>
          <a:xfrm>
            <a:off x="3657600" y="1463040"/>
            <a:ext cx="4876800" cy="731520"/>
          </a:xfrm>
          <a:prstGeom prst="rect">
            <a:avLst/>
          </a:prstGeom>
          <a:solidFill>
            <a:srgbClr val="F96167"/>
          </a:solidFill>
          <a:ln w="12700">
            <a:solidFill>
              <a:srgbClr val="1E2761"/>
            </a:solidFill>
            <a:prstDash val="solid"/>
          </a:ln>
        </p:spPr>
      </p:sp>
      <p:sp>
        <p:nvSpPr>
          <p:cNvPr id="10" name="Text 8"/>
          <p:cNvSpPr/>
          <p:nvPr/>
        </p:nvSpPr>
        <p:spPr>
          <a:xfrm>
            <a:off x="3657600" y="1463040"/>
            <a:ext cx="4876800" cy="731520"/>
          </a:xfrm>
          <a:prstGeom prst="rect">
            <a:avLst/>
          </a:prstGeom>
          <a:noFill/>
          <a:ln/>
        </p:spPr>
        <p:txBody>
          <a:bodyPr wrap="square" rtlCol="0" anchor="ctr"/>
          <a:lstStyle/>
          <a:p>
            <a:pPr algn="ctr"/>
            <a:r>
              <a:rPr lang="en-US" sz="1867" b="1" dirty="0">
                <a:solidFill>
                  <a:srgbClr val="FFFFFF"/>
                </a:solidFill>
              </a:rPr>
              <a:t>API GATEWAY</a:t>
            </a:r>
            <a:endParaRPr lang="en-US" sz="1867" dirty="0"/>
          </a:p>
        </p:txBody>
      </p:sp>
      <p:sp>
        <p:nvSpPr>
          <p:cNvPr id="11" name="Shape 9"/>
          <p:cNvSpPr/>
          <p:nvPr/>
        </p:nvSpPr>
        <p:spPr>
          <a:xfrm>
            <a:off x="3657600" y="2438400"/>
            <a:ext cx="2316480" cy="975360"/>
          </a:xfrm>
          <a:prstGeom prst="rect">
            <a:avLst/>
          </a:prstGeom>
          <a:solidFill>
            <a:srgbClr val="97BC62"/>
          </a:solidFill>
          <a:ln w="12700">
            <a:solidFill>
              <a:srgbClr val="1E2761"/>
            </a:solidFill>
            <a:prstDash val="solid"/>
          </a:ln>
        </p:spPr>
      </p:sp>
      <p:sp>
        <p:nvSpPr>
          <p:cNvPr id="12" name="Text 10"/>
          <p:cNvSpPr/>
          <p:nvPr/>
        </p:nvSpPr>
        <p:spPr>
          <a:xfrm>
            <a:off x="3657600" y="2438400"/>
            <a:ext cx="2316480" cy="975360"/>
          </a:xfrm>
          <a:prstGeom prst="rect">
            <a:avLst/>
          </a:prstGeom>
          <a:noFill/>
          <a:ln/>
        </p:spPr>
        <p:txBody>
          <a:bodyPr wrap="square" rtlCol="0" anchor="ctr"/>
          <a:lstStyle/>
          <a:p>
            <a:pPr algn="ctr"/>
            <a:r>
              <a:rPr lang="en-US" sz="1467" b="1" dirty="0">
                <a:solidFill>
                  <a:srgbClr val="FFFFFF"/>
                </a:solidFill>
              </a:rPr>
              <a:t>AI/ML</a:t>
            </a:r>
            <a:endParaRPr lang="en-US" sz="1467" dirty="0"/>
          </a:p>
          <a:p>
            <a:pPr algn="ctr"/>
            <a:r>
              <a:rPr lang="en-US" sz="1467" b="1" dirty="0">
                <a:solidFill>
                  <a:srgbClr val="FFFFFF"/>
                </a:solidFill>
              </a:rPr>
              <a:t>LAYER</a:t>
            </a:r>
            <a:endParaRPr lang="en-US" sz="1467" dirty="0"/>
          </a:p>
        </p:txBody>
      </p:sp>
      <p:sp>
        <p:nvSpPr>
          <p:cNvPr id="13" name="Shape 11"/>
          <p:cNvSpPr/>
          <p:nvPr/>
        </p:nvSpPr>
        <p:spPr>
          <a:xfrm>
            <a:off x="6217920" y="2438400"/>
            <a:ext cx="2316480" cy="975360"/>
          </a:xfrm>
          <a:prstGeom prst="rect">
            <a:avLst/>
          </a:prstGeom>
          <a:solidFill>
            <a:srgbClr val="97BC62"/>
          </a:solidFill>
          <a:ln w="12700">
            <a:solidFill>
              <a:srgbClr val="1E2761"/>
            </a:solidFill>
            <a:prstDash val="solid"/>
          </a:ln>
        </p:spPr>
      </p:sp>
      <p:sp>
        <p:nvSpPr>
          <p:cNvPr id="14" name="Text 12"/>
          <p:cNvSpPr/>
          <p:nvPr/>
        </p:nvSpPr>
        <p:spPr>
          <a:xfrm>
            <a:off x="6217920" y="2438400"/>
            <a:ext cx="2316480" cy="975360"/>
          </a:xfrm>
          <a:prstGeom prst="rect">
            <a:avLst/>
          </a:prstGeom>
          <a:noFill/>
          <a:ln/>
        </p:spPr>
        <p:txBody>
          <a:bodyPr wrap="square" rtlCol="0" anchor="ctr"/>
          <a:lstStyle/>
          <a:p>
            <a:pPr algn="ctr"/>
            <a:r>
              <a:rPr lang="en-US" sz="1467" b="1" dirty="0">
                <a:solidFill>
                  <a:srgbClr val="FFFFFF"/>
                </a:solidFill>
              </a:rPr>
              <a:t>BLOCKCHAIN</a:t>
            </a:r>
            <a:endParaRPr lang="en-US" sz="1467" dirty="0"/>
          </a:p>
          <a:p>
            <a:pPr algn="ctr"/>
            <a:r>
              <a:rPr lang="en-US" sz="1467" b="1" dirty="0">
                <a:solidFill>
                  <a:srgbClr val="FFFFFF"/>
                </a:solidFill>
              </a:rPr>
              <a:t>LAYER</a:t>
            </a:r>
            <a:endParaRPr lang="en-US" sz="1467" dirty="0"/>
          </a:p>
        </p:txBody>
      </p:sp>
      <p:sp>
        <p:nvSpPr>
          <p:cNvPr id="15" name="Shape 13"/>
          <p:cNvSpPr/>
          <p:nvPr/>
        </p:nvSpPr>
        <p:spPr>
          <a:xfrm>
            <a:off x="3657600" y="3657600"/>
            <a:ext cx="4876800" cy="853440"/>
          </a:xfrm>
          <a:prstGeom prst="rect">
            <a:avLst/>
          </a:prstGeom>
          <a:solidFill>
            <a:srgbClr val="1E2761"/>
          </a:solidFill>
          <a:ln w="12700">
            <a:solidFill>
              <a:srgbClr val="1E2761"/>
            </a:solidFill>
            <a:prstDash val="solid"/>
          </a:ln>
        </p:spPr>
      </p:sp>
      <p:sp>
        <p:nvSpPr>
          <p:cNvPr id="16" name="Text 14"/>
          <p:cNvSpPr/>
          <p:nvPr/>
        </p:nvSpPr>
        <p:spPr>
          <a:xfrm>
            <a:off x="3657600" y="3657600"/>
            <a:ext cx="4876800" cy="853440"/>
          </a:xfrm>
          <a:prstGeom prst="rect">
            <a:avLst/>
          </a:prstGeom>
          <a:noFill/>
          <a:ln/>
        </p:spPr>
        <p:txBody>
          <a:bodyPr wrap="square" rtlCol="0" anchor="ctr"/>
          <a:lstStyle/>
          <a:p>
            <a:pPr algn="ctr"/>
            <a:r>
              <a:rPr lang="en-US" sz="1600" b="1" dirty="0">
                <a:solidFill>
                  <a:srgbClr val="FFFFFF"/>
                </a:solidFill>
              </a:rPr>
              <a:t>APPLICATION SERVICES</a:t>
            </a:r>
            <a:endParaRPr lang="en-US" sz="1600" dirty="0"/>
          </a:p>
        </p:txBody>
      </p:sp>
      <p:sp>
        <p:nvSpPr>
          <p:cNvPr id="17" name="Shape 15"/>
          <p:cNvSpPr/>
          <p:nvPr/>
        </p:nvSpPr>
        <p:spPr>
          <a:xfrm>
            <a:off x="3657600" y="4754880"/>
            <a:ext cx="4876800" cy="853440"/>
          </a:xfrm>
          <a:prstGeom prst="rect">
            <a:avLst/>
          </a:prstGeom>
          <a:solidFill>
            <a:srgbClr val="1E2761"/>
          </a:solidFill>
          <a:ln w="12700">
            <a:solidFill>
              <a:srgbClr val="1E2761"/>
            </a:solidFill>
            <a:prstDash val="solid"/>
          </a:ln>
        </p:spPr>
      </p:sp>
      <p:sp>
        <p:nvSpPr>
          <p:cNvPr id="18" name="Text 16"/>
          <p:cNvSpPr/>
          <p:nvPr/>
        </p:nvSpPr>
        <p:spPr>
          <a:xfrm>
            <a:off x="3657600" y="4754880"/>
            <a:ext cx="4876800" cy="853440"/>
          </a:xfrm>
          <a:prstGeom prst="rect">
            <a:avLst/>
          </a:prstGeom>
          <a:noFill/>
          <a:ln/>
        </p:spPr>
        <p:txBody>
          <a:bodyPr wrap="square" rtlCol="0" anchor="ctr"/>
          <a:lstStyle/>
          <a:p>
            <a:pPr algn="ctr"/>
            <a:r>
              <a:rPr lang="en-US" sz="1600" b="1" dirty="0">
                <a:solidFill>
                  <a:srgbClr val="FFFFFF"/>
                </a:solidFill>
              </a:rPr>
              <a:t>DATABASE &amp; STORAGE</a:t>
            </a:r>
            <a:endParaRPr lang="en-US" sz="1600" dirty="0"/>
          </a:p>
        </p:txBody>
      </p:sp>
      <p:sp>
        <p:nvSpPr>
          <p:cNvPr id="19" name="Shape 17"/>
          <p:cNvSpPr/>
          <p:nvPr/>
        </p:nvSpPr>
        <p:spPr>
          <a:xfrm>
            <a:off x="3291840" y="3535680"/>
            <a:ext cx="365760" cy="0"/>
          </a:xfrm>
          <a:prstGeom prst="line">
            <a:avLst/>
          </a:prstGeom>
          <a:noFill/>
          <a:ln w="25400">
            <a:solidFill>
              <a:srgbClr val="2C3E50"/>
            </a:solidFill>
            <a:prstDash val="solid"/>
            <a:tailEnd type="triangle"/>
          </a:ln>
        </p:spPr>
      </p:sp>
      <p:sp>
        <p:nvSpPr>
          <p:cNvPr id="20" name="Shape 18"/>
          <p:cNvSpPr/>
          <p:nvPr/>
        </p:nvSpPr>
        <p:spPr>
          <a:xfrm>
            <a:off x="8534400" y="3535680"/>
            <a:ext cx="0" cy="0"/>
          </a:xfrm>
          <a:prstGeom prst="line">
            <a:avLst/>
          </a:prstGeom>
          <a:noFill/>
          <a:ln w="25400">
            <a:solidFill>
              <a:srgbClr val="2C3E50"/>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B3E346-983D-0338-C78A-700CBB44858E}"/>
              </a:ext>
            </a:extLst>
          </p:cNvPr>
          <p:cNvPicPr>
            <a:picLocks noChangeAspect="1"/>
          </p:cNvPicPr>
          <p:nvPr/>
        </p:nvPicPr>
        <p:blipFill>
          <a:blip r:embed="rId2"/>
          <a:stretch>
            <a:fillRect/>
          </a:stretch>
        </p:blipFill>
        <p:spPr>
          <a:xfrm>
            <a:off x="78658" y="277141"/>
            <a:ext cx="11273660" cy="6052098"/>
          </a:xfrm>
          <a:prstGeom prst="rect">
            <a:avLst/>
          </a:prstGeom>
        </p:spPr>
      </p:pic>
    </p:spTree>
    <p:extLst>
      <p:ext uri="{BB962C8B-B14F-4D97-AF65-F5344CB8AC3E}">
        <p14:creationId xmlns:p14="http://schemas.microsoft.com/office/powerpoint/2010/main" val="1668479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1260A8-6B63-E898-5C6F-8C64FDE222AA}"/>
              </a:ext>
            </a:extLst>
          </p:cNvPr>
          <p:cNvPicPr>
            <a:picLocks noChangeAspect="1"/>
          </p:cNvPicPr>
          <p:nvPr/>
        </p:nvPicPr>
        <p:blipFill>
          <a:blip r:embed="rId2"/>
          <a:stretch>
            <a:fillRect/>
          </a:stretch>
        </p:blipFill>
        <p:spPr>
          <a:xfrm>
            <a:off x="952500" y="0"/>
            <a:ext cx="10287000" cy="6858000"/>
          </a:xfrm>
          <a:prstGeom prst="rect">
            <a:avLst/>
          </a:prstGeom>
        </p:spPr>
      </p:pic>
    </p:spTree>
    <p:extLst>
      <p:ext uri="{BB962C8B-B14F-4D97-AF65-F5344CB8AC3E}">
        <p14:creationId xmlns:p14="http://schemas.microsoft.com/office/powerpoint/2010/main" val="1854183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E46FC27-6C6F-5D07-7214-E658220CB1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6560" y="0"/>
            <a:ext cx="8696960" cy="6858000"/>
          </a:xfrm>
          <a:prstGeom prst="rect">
            <a:avLst/>
          </a:prstGeom>
        </p:spPr>
      </p:pic>
    </p:spTree>
    <p:extLst>
      <p:ext uri="{BB962C8B-B14F-4D97-AF65-F5344CB8AC3E}">
        <p14:creationId xmlns:p14="http://schemas.microsoft.com/office/powerpoint/2010/main" val="459202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D4619D-678F-9175-7B8F-5CFBD6AEDB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6880" y="0"/>
            <a:ext cx="8635999" cy="6858000"/>
          </a:xfrm>
          <a:prstGeom prst="rect">
            <a:avLst/>
          </a:prstGeom>
        </p:spPr>
      </p:pic>
    </p:spTree>
    <p:extLst>
      <p:ext uri="{BB962C8B-B14F-4D97-AF65-F5344CB8AC3E}">
        <p14:creationId xmlns:p14="http://schemas.microsoft.com/office/powerpoint/2010/main" val="306189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BE7C79C-34C5-8395-8CC2-DE3292F8CE6B}"/>
              </a:ext>
            </a:extLst>
          </p:cNvPr>
          <p:cNvPicPr>
            <a:picLocks noChangeAspect="1"/>
          </p:cNvPicPr>
          <p:nvPr/>
        </p:nvPicPr>
        <p:blipFill>
          <a:blip r:embed="rId2"/>
          <a:stretch>
            <a:fillRect/>
          </a:stretch>
        </p:blipFill>
        <p:spPr>
          <a:xfrm>
            <a:off x="210481" y="575864"/>
            <a:ext cx="11803122" cy="5706271"/>
          </a:xfrm>
          <a:prstGeom prst="rect">
            <a:avLst/>
          </a:prstGeom>
        </p:spPr>
      </p:pic>
    </p:spTree>
    <p:extLst>
      <p:ext uri="{BB962C8B-B14F-4D97-AF65-F5344CB8AC3E}">
        <p14:creationId xmlns:p14="http://schemas.microsoft.com/office/powerpoint/2010/main" val="687635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EDFC30-2E0D-083A-7843-4A87C1148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1120" y="0"/>
            <a:ext cx="9083040" cy="6858000"/>
          </a:xfrm>
          <a:prstGeom prst="rect">
            <a:avLst/>
          </a:prstGeom>
        </p:spPr>
      </p:pic>
    </p:spTree>
    <p:extLst>
      <p:ext uri="{BB962C8B-B14F-4D97-AF65-F5344CB8AC3E}">
        <p14:creationId xmlns:p14="http://schemas.microsoft.com/office/powerpoint/2010/main" val="3255910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A8C836-8956-8370-84AC-F0DBB5DF6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080" y="0"/>
            <a:ext cx="9042400" cy="6858000"/>
          </a:xfrm>
          <a:prstGeom prst="rect">
            <a:avLst/>
          </a:prstGeom>
        </p:spPr>
      </p:pic>
    </p:spTree>
    <p:extLst>
      <p:ext uri="{BB962C8B-B14F-4D97-AF65-F5344CB8AC3E}">
        <p14:creationId xmlns:p14="http://schemas.microsoft.com/office/powerpoint/2010/main" val="2453856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D4E812-30EB-33D6-76B8-63F767D71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3280" y="0"/>
            <a:ext cx="8331200" cy="6858000"/>
          </a:xfrm>
          <a:prstGeom prst="rect">
            <a:avLst/>
          </a:prstGeom>
        </p:spPr>
      </p:pic>
    </p:spTree>
    <p:extLst>
      <p:ext uri="{BB962C8B-B14F-4D97-AF65-F5344CB8AC3E}">
        <p14:creationId xmlns:p14="http://schemas.microsoft.com/office/powerpoint/2010/main" val="690153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838F1-6D03-AA00-066D-1AB806536982}"/>
              </a:ext>
            </a:extLst>
          </p:cNvPr>
          <p:cNvSpPr>
            <a:spLocks noGrp="1"/>
          </p:cNvSpPr>
          <p:nvPr>
            <p:ph type="title"/>
          </p:nvPr>
        </p:nvSpPr>
        <p:spPr>
          <a:xfrm>
            <a:off x="4119716" y="2370667"/>
            <a:ext cx="5860898" cy="1822514"/>
          </a:xfrm>
        </p:spPr>
        <p:txBody>
          <a:bodyPr/>
          <a:lstStyle/>
          <a:p>
            <a:r>
              <a:rPr lang="en-US" sz="7800" dirty="0">
                <a:latin typeface="Times New Roman" panose="02020603050405020304" pitchFamily="18" charset="0"/>
                <a:cs typeface="Times New Roman" panose="02020603050405020304" pitchFamily="18" charset="0"/>
              </a:rPr>
              <a:t>Thank you!</a:t>
            </a:r>
            <a:endParaRPr lang="en-IN" sz="7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7E71E8CE-37A5-AC7E-AB3C-02CAC0C0DC91}"/>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22859158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148</TotalTime>
  <Words>204</Words>
  <Application>Microsoft Office PowerPoint</Application>
  <PresentationFormat>Widescreen</PresentationFormat>
  <Paragraphs>24</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Times New Roman</vt:lpstr>
      <vt:lpstr>Wingdings 3</vt:lpstr>
      <vt:lpstr>Ion Boardroom</vt:lpstr>
      <vt:lpstr>FarmChain X AI Driven Agricultural Traceability Network</vt:lpstr>
      <vt:lpstr>Problem Statement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Tejaswini Thota</dc:creator>
  <cp:lastModifiedBy>Tejaswini Thota</cp:lastModifiedBy>
  <cp:revision>13</cp:revision>
  <dcterms:created xsi:type="dcterms:W3CDTF">2026-02-16T18:13:03Z</dcterms:created>
  <dcterms:modified xsi:type="dcterms:W3CDTF">2026-04-24T13:17:44Z</dcterms:modified>
</cp:coreProperties>
</file>